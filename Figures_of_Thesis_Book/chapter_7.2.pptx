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E48D2-4DC2-479F-A141-240ED241A2E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DBE65-C68D-4C26-BEA4-B768FDE24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6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BE65-C68D-4C26-BEA4-B768FDE24D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3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5365-F638-9025-4F35-A4C1EB877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39BB2-D27C-D129-912F-11AC522A0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0D94-CEA3-3DF5-1F0C-FC7A2652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C30B6-4BB9-A1EA-DE9E-4671A6F7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CAD9-96B7-0699-794D-21C9521E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F2E1-89B4-0C6C-5F4E-319E7CBC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6A6D-A484-3C2F-F3BC-1E47365A0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6FD95-D702-3174-D88C-DA9A8C1D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10B66-5E94-E81A-85FB-34607CB1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E8751-6342-E449-611C-79312853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FECB-A32E-F10A-6282-9694BDA0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9A1F-6FE2-1512-A408-53C8F775A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4F018-5084-2346-4811-5F63D30F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33A35-7A61-42D9-DA99-347B16D6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2893-EF35-74BC-4757-2AA23165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9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A139-ADFD-9E1B-48A3-BD387A27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9080-EA16-2181-85B8-27140736B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67E8D-72B9-8603-F29B-088EB76E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3923B-FB76-78D5-EE14-AEED61CE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62172-B6B8-2258-BE17-EA550FDA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6AA6C-9854-54FD-D893-5DB42A41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CDFE-2917-967D-5962-C9047272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49B99-F586-E67B-6E3F-161026B7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DD15C-3E65-1241-A851-C4BF0F6DA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B4B36-6F28-DDC4-325C-18AA31291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6D3AD-64AA-C54D-C228-93B50E144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8F4F2-F7EC-3E7D-6E12-DE041308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D08C3-94A3-184D-F52D-EB854666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27948-A80F-E110-F431-7D09A5FA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1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CF67-8642-6453-8780-D455716B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20470-2955-9D4F-56DA-B2FFACA0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A9739-2447-3A4B-1D98-C366AA67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C50A1-5573-B659-D58C-94A8D045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5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F9441-ACF2-EE20-5663-5460AF21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0FF79-7F73-231F-7EA5-513A3583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9639D-D915-AF24-14BA-39A68AC9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9B29-99E4-A696-9F13-61AA6463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E85B-4AE3-2399-431F-A6C6E863B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F43DC-6B27-66A3-6529-E727D8903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630F4-E1F0-0465-CA14-C99BC978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554C8-61B9-92D3-956D-16C0E805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152FD-B516-9315-3D48-ED80CCF0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6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3021-F9B4-B8DC-AE9A-EC5B40C0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830B6-7A8E-B64E-29F9-C7988F25F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518B2-303B-533C-DE15-B12887265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75210-7960-5BB4-A183-2F679A87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3BF40-BE07-2913-39EF-72AD74EA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6C894-54CB-59A5-F062-0C581323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0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1CDB-F7EE-1778-A9B3-0C9101F2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38A95-D18A-0F22-20FB-FCD3116CD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DDA86-1397-2477-9220-BA149AEB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FF663-3B34-87EC-9BAC-81812E07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656E6-F54B-FAD5-BE6A-9396E640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7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C9FB1-79C9-0074-4CE1-03B2CE6D1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96A5-B83F-DA82-56F7-B81B427B6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F29EB-B693-B10B-E6FA-884A9F93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5BDF-AF1F-615A-127F-E05AA987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17482-B0DB-5F0C-BA29-D823BD01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6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F1A34-1EF2-0C28-DF15-4009C3C85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32AE9-6515-1811-798C-5C45C5480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E508-A6F1-2D5B-DA01-1E3099AEE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5DEA-0FB3-4D59-ADFD-AB166C596ED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5D9C3-52DD-4CED-C836-991A04B09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22270-33E9-C721-E7BF-A8B3B0694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C3FD5-D5F6-4533-84B9-B5C51F90B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6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25451E-9130-A552-6C6A-A39C38561FA3}"/>
              </a:ext>
            </a:extLst>
          </p:cNvPr>
          <p:cNvSpPr/>
          <p:nvPr/>
        </p:nvSpPr>
        <p:spPr>
          <a:xfrm>
            <a:off x="2791982" y="1000883"/>
            <a:ext cx="1723861" cy="2623190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D1B1BB-A311-72B3-9B57-1A75BC10D3BF}"/>
              </a:ext>
            </a:extLst>
          </p:cNvPr>
          <p:cNvSpPr/>
          <p:nvPr/>
        </p:nvSpPr>
        <p:spPr>
          <a:xfrm>
            <a:off x="540121" y="1023409"/>
            <a:ext cx="1686797" cy="263928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E22B38-B6E9-A939-3CD6-7017BA9DB7E1}"/>
              </a:ext>
            </a:extLst>
          </p:cNvPr>
          <p:cNvSpPr/>
          <p:nvPr/>
        </p:nvSpPr>
        <p:spPr>
          <a:xfrm>
            <a:off x="5221139" y="1103114"/>
            <a:ext cx="1890585" cy="2432126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8D0A1C-E1CB-8101-DD34-CB0123C24A6A}"/>
              </a:ext>
            </a:extLst>
          </p:cNvPr>
          <p:cNvSpPr/>
          <p:nvPr/>
        </p:nvSpPr>
        <p:spPr>
          <a:xfrm>
            <a:off x="7284284" y="1064460"/>
            <a:ext cx="2053571" cy="2444614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339E86-1A65-89F3-56E0-BF785F292748}"/>
              </a:ext>
            </a:extLst>
          </p:cNvPr>
          <p:cNvSpPr/>
          <p:nvPr/>
        </p:nvSpPr>
        <p:spPr>
          <a:xfrm>
            <a:off x="10359859" y="1023408"/>
            <a:ext cx="1497929" cy="2623190"/>
          </a:xfrm>
          <a:prstGeom prst="round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1F5AD-EF46-5740-C123-F3B067672843}"/>
              </a:ext>
            </a:extLst>
          </p:cNvPr>
          <p:cNvSpPr/>
          <p:nvPr/>
        </p:nvSpPr>
        <p:spPr>
          <a:xfrm>
            <a:off x="364775" y="166254"/>
            <a:ext cx="11731337" cy="387331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76A63D-8ABA-914A-BBAF-DD832D46D078}"/>
              </a:ext>
            </a:extLst>
          </p:cNvPr>
          <p:cNvSpPr txBox="1"/>
          <p:nvPr/>
        </p:nvSpPr>
        <p:spPr>
          <a:xfrm>
            <a:off x="4124659" y="201616"/>
            <a:ext cx="439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Hardware-In-The Loop(HIL) Validation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D2C47-5B4A-423B-E559-471FDED96402}"/>
              </a:ext>
            </a:extLst>
          </p:cNvPr>
          <p:cNvSpPr txBox="1"/>
          <p:nvPr/>
        </p:nvSpPr>
        <p:spPr>
          <a:xfrm>
            <a:off x="594608" y="1064461"/>
            <a:ext cx="1540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 Python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E81259-76C6-7599-23FC-B18A81468959}"/>
              </a:ext>
            </a:extLst>
          </p:cNvPr>
          <p:cNvSpPr txBox="1"/>
          <p:nvPr/>
        </p:nvSpPr>
        <p:spPr>
          <a:xfrm>
            <a:off x="2975208" y="1041935"/>
            <a:ext cx="134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 (UART)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A6CE1B-3706-77A4-BD6F-CB9D65504F82}"/>
              </a:ext>
            </a:extLst>
          </p:cNvPr>
          <p:cNvSpPr txBox="1"/>
          <p:nvPr/>
        </p:nvSpPr>
        <p:spPr>
          <a:xfrm>
            <a:off x="5537926" y="1160061"/>
            <a:ext cx="1277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.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361CBC-DD6A-1E54-642B-5F538857405A}"/>
              </a:ext>
            </a:extLst>
          </p:cNvPr>
          <p:cNvSpPr txBox="1"/>
          <p:nvPr/>
        </p:nvSpPr>
        <p:spPr>
          <a:xfrm>
            <a:off x="7543803" y="1084094"/>
            <a:ext cx="1765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INT8 model in Flash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F424F-5D8D-0942-019A-CAA0CDB1A344}"/>
              </a:ext>
            </a:extLst>
          </p:cNvPr>
          <p:cNvSpPr txBox="1"/>
          <p:nvPr/>
        </p:nvSpPr>
        <p:spPr>
          <a:xfrm>
            <a:off x="10370334" y="1093290"/>
            <a:ext cx="17257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7-DOF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Franka Panda Robot on PC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D905B6-4D3D-C899-36B5-5090FB0E3C9E}"/>
              </a:ext>
            </a:extLst>
          </p:cNvPr>
          <p:cNvSpPr txBox="1"/>
          <p:nvPr/>
        </p:nvSpPr>
        <p:spPr>
          <a:xfrm>
            <a:off x="517113" y="2206179"/>
            <a:ext cx="16745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robosuite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rendering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observation to ESP32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actions from ESP32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data, metrics &amp; episodes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EFE69A-C4E4-CB41-C2E0-C33F0BC86841}"/>
              </a:ext>
            </a:extLst>
          </p:cNvPr>
          <p:cNvSpPr txBox="1"/>
          <p:nvPr/>
        </p:nvSpPr>
        <p:spPr>
          <a:xfrm>
            <a:off x="2838150" y="2040542"/>
            <a:ext cx="165782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115200bps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(default)</a:t>
            </a:r>
          </a:p>
          <a:p>
            <a:pPr algn="ctr"/>
            <a:endParaRPr lang="en-US" sz="1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Format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 1B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2B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(float32/int8)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2B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E62CDD-F14D-F5CF-A8DC-1E9E3F2C6894}"/>
              </a:ext>
            </a:extLst>
          </p:cNvPr>
          <p:cNvSpPr txBox="1"/>
          <p:nvPr/>
        </p:nvSpPr>
        <p:spPr>
          <a:xfrm>
            <a:off x="5232607" y="2040542"/>
            <a:ext cx="202745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Observation Vector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INT8 model using </a:t>
            </a:r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-micro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7-D action vector back to PC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watchdog and safety checks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115F3C-D054-E23B-3822-E816BDDE359B}"/>
              </a:ext>
            </a:extLst>
          </p:cNvPr>
          <p:cNvSpPr txBox="1"/>
          <p:nvPr/>
        </p:nvSpPr>
        <p:spPr>
          <a:xfrm>
            <a:off x="7381009" y="4319247"/>
            <a:ext cx="2455699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HIL Validation Metrics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success rate (%)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time(S)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Latency (</a:t>
            </a:r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/ Failure reasons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Reliability packet loss, CRC errors , timeouts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2C4208-00A4-26B8-E1B6-788F78D3E578}"/>
              </a:ext>
            </a:extLst>
          </p:cNvPr>
          <p:cNvSpPr txBox="1"/>
          <p:nvPr/>
        </p:nvSpPr>
        <p:spPr>
          <a:xfrm>
            <a:off x="4939720" y="5391037"/>
            <a:ext cx="2172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in .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 via #include </a:t>
            </a:r>
            <a:r>
              <a:rPr lang="en-US" sz="1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model_data.h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F7AF7938-DF1E-2F4C-DB98-C7393A402695}"/>
              </a:ext>
            </a:extLst>
          </p:cNvPr>
          <p:cNvSpPr/>
          <p:nvPr/>
        </p:nvSpPr>
        <p:spPr>
          <a:xfrm>
            <a:off x="1844872" y="4818838"/>
            <a:ext cx="436912" cy="13711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9B677999-BF45-A4E1-F18E-575E6D9DC9CC}"/>
              </a:ext>
            </a:extLst>
          </p:cNvPr>
          <p:cNvSpPr/>
          <p:nvPr/>
        </p:nvSpPr>
        <p:spPr>
          <a:xfrm>
            <a:off x="9519471" y="1742395"/>
            <a:ext cx="708193" cy="19623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ocument Paper Symbol Vector Icon Illustration Stock Vector (Royalty ...">
            <a:extLst>
              <a:ext uri="{FF2B5EF4-FFF2-40B4-BE49-F238E27FC236}">
                <a16:creationId xmlns:a16="http://schemas.microsoft.com/office/drawing/2014/main" id="{23D0CDEB-E659-9436-AFCD-18B7E039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95" t="17661" r="12015" b="19829"/>
          <a:stretch>
            <a:fillRect/>
          </a:stretch>
        </p:blipFill>
        <p:spPr>
          <a:xfrm>
            <a:off x="935344" y="4446359"/>
            <a:ext cx="885644" cy="90073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EDF5536-C99D-18C4-912C-8A9A2AE0939D}"/>
              </a:ext>
            </a:extLst>
          </p:cNvPr>
          <p:cNvSpPr txBox="1"/>
          <p:nvPr/>
        </p:nvSpPr>
        <p:spPr>
          <a:xfrm>
            <a:off x="1016907" y="4747432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endParaRPr lang="en-US" sz="1200" dirty="0"/>
          </a:p>
        </p:txBody>
      </p:sp>
      <p:pic>
        <p:nvPicPr>
          <p:cNvPr id="78" name="Picture 77" descr="Computer Text Symbol _ Symbols On Keyboard Chart – RYJIWN">
            <a:extLst>
              <a:ext uri="{FF2B5EF4-FFF2-40B4-BE49-F238E27FC236}">
                <a16:creationId xmlns:a16="http://schemas.microsoft.com/office/drawing/2014/main" id="{F9B06AC1-075D-16CB-3384-D74E5B0AD9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53" t="14617" r="8086" b="17352"/>
          <a:stretch>
            <a:fillRect/>
          </a:stretch>
        </p:blipFill>
        <p:spPr>
          <a:xfrm>
            <a:off x="684275" y="1425205"/>
            <a:ext cx="1160596" cy="755422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C76F9B1-DF94-5084-7851-879B41165FB2}"/>
              </a:ext>
            </a:extLst>
          </p:cNvPr>
          <p:cNvSpPr txBox="1"/>
          <p:nvPr/>
        </p:nvSpPr>
        <p:spPr>
          <a:xfrm>
            <a:off x="984983" y="1538549"/>
            <a:ext cx="529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cs typeface="Times New Roman" panose="02020603050405020304" pitchFamily="18" charset="0"/>
              </a:rPr>
              <a:t>&lt; / 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7846F-7B0B-0179-3891-84343A72DBC4}"/>
              </a:ext>
            </a:extLst>
          </p:cNvPr>
          <p:cNvSpPr/>
          <p:nvPr/>
        </p:nvSpPr>
        <p:spPr>
          <a:xfrm>
            <a:off x="400378" y="4169823"/>
            <a:ext cx="11731337" cy="170921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C44C5-4841-E67E-1797-2616C9CAAE56}"/>
              </a:ext>
            </a:extLst>
          </p:cNvPr>
          <p:cNvSpPr/>
          <p:nvPr/>
        </p:nvSpPr>
        <p:spPr>
          <a:xfrm>
            <a:off x="400378" y="5983784"/>
            <a:ext cx="11673955" cy="690011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A90660-C6DA-3A16-FE25-7113B900AF05}"/>
              </a:ext>
            </a:extLst>
          </p:cNvPr>
          <p:cNvSpPr/>
          <p:nvPr/>
        </p:nvSpPr>
        <p:spPr>
          <a:xfrm>
            <a:off x="7442323" y="1418468"/>
            <a:ext cx="1649705" cy="2010428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8F8EC9-198D-7095-18D3-FCC340DA4F43}"/>
              </a:ext>
            </a:extLst>
          </p:cNvPr>
          <p:cNvSpPr/>
          <p:nvPr/>
        </p:nvSpPr>
        <p:spPr>
          <a:xfrm>
            <a:off x="7610472" y="1538549"/>
            <a:ext cx="1243068" cy="290518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model_data.h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1AA097B-AD71-D8B4-4527-BF46B37D2129}"/>
              </a:ext>
            </a:extLst>
          </p:cNvPr>
          <p:cNvSpPr/>
          <p:nvPr/>
        </p:nvSpPr>
        <p:spPr>
          <a:xfrm>
            <a:off x="7621447" y="1916128"/>
            <a:ext cx="1243065" cy="929836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0x20, 0x03, 0x0F,  0x4A, 0x01…  …  … 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D45D5-2B9A-07E9-D8E3-C2593F8AC4C9}"/>
              </a:ext>
            </a:extLst>
          </p:cNvPr>
          <p:cNvSpPr txBox="1"/>
          <p:nvPr/>
        </p:nvSpPr>
        <p:spPr>
          <a:xfrm>
            <a:off x="7543803" y="2910401"/>
            <a:ext cx="1487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 array (cons unit8 t[])</a:t>
            </a:r>
          </a:p>
          <a:p>
            <a:r>
              <a:rPr lang="en-US" sz="1100" b="1" dirty="0"/>
              <a:t>(included in firmware)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C826E0-522D-BA7E-9425-68E33C7E3534}"/>
              </a:ext>
            </a:extLst>
          </p:cNvPr>
          <p:cNvSpPr/>
          <p:nvPr/>
        </p:nvSpPr>
        <p:spPr>
          <a:xfrm>
            <a:off x="5097267" y="697686"/>
            <a:ext cx="4309102" cy="2948912"/>
          </a:xfrm>
          <a:prstGeom prst="round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B07C5-B68F-8E66-7CDD-4B1C2A22B1A9}"/>
              </a:ext>
            </a:extLst>
          </p:cNvPr>
          <p:cNvSpPr txBox="1"/>
          <p:nvPr/>
        </p:nvSpPr>
        <p:spPr>
          <a:xfrm>
            <a:off x="6432115" y="703983"/>
            <a:ext cx="1359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(Target)</a:t>
            </a:r>
          </a:p>
        </p:txBody>
      </p:sp>
      <p:pic>
        <p:nvPicPr>
          <p:cNvPr id="29" name="Picture 28" descr="Franka Emika | Collaborative Lightweight Cobots | WiredWorkers">
            <a:extLst>
              <a:ext uri="{FF2B5EF4-FFF2-40B4-BE49-F238E27FC236}">
                <a16:creationId xmlns:a16="http://schemas.microsoft.com/office/drawing/2014/main" id="{244075B2-FDDF-22F9-D7AF-CA4D8D1893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34" t="8040" r="24153" b="12080"/>
          <a:stretch>
            <a:fillRect/>
          </a:stretch>
        </p:blipFill>
        <p:spPr>
          <a:xfrm>
            <a:off x="10483865" y="1910226"/>
            <a:ext cx="1117723" cy="1517930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6D8063FE-1363-DA2C-6091-E2793D2389B3}"/>
              </a:ext>
            </a:extLst>
          </p:cNvPr>
          <p:cNvSpPr/>
          <p:nvPr/>
        </p:nvSpPr>
        <p:spPr>
          <a:xfrm rot="10800000">
            <a:off x="9548222" y="2555414"/>
            <a:ext cx="708193" cy="17697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5C9CFD-D0ED-E870-6AC5-767050F57A8B}"/>
              </a:ext>
            </a:extLst>
          </p:cNvPr>
          <p:cNvSpPr txBox="1"/>
          <p:nvPr/>
        </p:nvSpPr>
        <p:spPr>
          <a:xfrm>
            <a:off x="9385025" y="1301294"/>
            <a:ext cx="88197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AAAEC0-8DA4-5C1F-9884-77C67648FDD9}"/>
              </a:ext>
            </a:extLst>
          </p:cNvPr>
          <p:cNvSpPr txBox="1"/>
          <p:nvPr/>
        </p:nvSpPr>
        <p:spPr>
          <a:xfrm>
            <a:off x="9379224" y="2748732"/>
            <a:ext cx="12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/observations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 </a:t>
            </a:r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12CBC4A6-2A1D-162A-0839-55D21E8D6874}"/>
              </a:ext>
            </a:extLst>
          </p:cNvPr>
          <p:cNvSpPr/>
          <p:nvPr/>
        </p:nvSpPr>
        <p:spPr>
          <a:xfrm>
            <a:off x="4567325" y="1689209"/>
            <a:ext cx="497347" cy="230926"/>
          </a:xfrm>
          <a:prstGeom prst="leftRightArrow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522DA306-7C2A-D6F7-C50E-EB0B039C6FC4}"/>
              </a:ext>
            </a:extLst>
          </p:cNvPr>
          <p:cNvSpPr/>
          <p:nvPr/>
        </p:nvSpPr>
        <p:spPr>
          <a:xfrm>
            <a:off x="2253062" y="1678551"/>
            <a:ext cx="497347" cy="230926"/>
          </a:xfrm>
          <a:prstGeom prst="leftRightArrow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7D54CC-6874-6DB3-8141-E7FA6F10D910}"/>
              </a:ext>
            </a:extLst>
          </p:cNvPr>
          <p:cNvCxnSpPr>
            <a:cxnSpLocks/>
          </p:cNvCxnSpPr>
          <p:nvPr/>
        </p:nvCxnSpPr>
        <p:spPr>
          <a:xfrm>
            <a:off x="2259513" y="3137515"/>
            <a:ext cx="532469" cy="0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87B250-23FE-8F38-C71C-502F888C8F26}"/>
              </a:ext>
            </a:extLst>
          </p:cNvPr>
          <p:cNvCxnSpPr>
            <a:cxnSpLocks/>
          </p:cNvCxnSpPr>
          <p:nvPr/>
        </p:nvCxnSpPr>
        <p:spPr>
          <a:xfrm flipV="1">
            <a:off x="4515843" y="3137515"/>
            <a:ext cx="546159" cy="1167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47577EA-5746-B66C-85FD-BEFBA2C43583}"/>
              </a:ext>
            </a:extLst>
          </p:cNvPr>
          <p:cNvSpPr/>
          <p:nvPr/>
        </p:nvSpPr>
        <p:spPr>
          <a:xfrm>
            <a:off x="7357126" y="4242553"/>
            <a:ext cx="4500662" cy="1538633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B1D8D4C0-DA07-DC6A-C9AA-A861253E90FA}"/>
              </a:ext>
            </a:extLst>
          </p:cNvPr>
          <p:cNvSpPr/>
          <p:nvPr/>
        </p:nvSpPr>
        <p:spPr>
          <a:xfrm>
            <a:off x="5036250" y="4414214"/>
            <a:ext cx="1585772" cy="943721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27698790-D73B-3B32-8588-B0B78997E752}"/>
              </a:ext>
            </a:extLst>
          </p:cNvPr>
          <p:cNvSpPr/>
          <p:nvPr/>
        </p:nvSpPr>
        <p:spPr>
          <a:xfrm>
            <a:off x="2419852" y="4541059"/>
            <a:ext cx="1778276" cy="900732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48ED6AE8-3BEA-7AC9-1D19-66A4C75A3756}"/>
              </a:ext>
            </a:extLst>
          </p:cNvPr>
          <p:cNvSpPr/>
          <p:nvPr/>
        </p:nvSpPr>
        <p:spPr>
          <a:xfrm>
            <a:off x="2931029" y="5033870"/>
            <a:ext cx="671166" cy="289644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&lt;/&gt;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53BA4C6-7E7F-8336-1F6B-0AC775D49A79}"/>
              </a:ext>
            </a:extLst>
          </p:cNvPr>
          <p:cNvSpPr txBox="1"/>
          <p:nvPr/>
        </p:nvSpPr>
        <p:spPr>
          <a:xfrm>
            <a:off x="2474267" y="4548456"/>
            <a:ext cx="172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Script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python)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99228E-8FD2-6E98-2288-99F769A9D80C}"/>
              </a:ext>
            </a:extLst>
          </p:cNvPr>
          <p:cNvSpPr txBox="1"/>
          <p:nvPr/>
        </p:nvSpPr>
        <p:spPr>
          <a:xfrm>
            <a:off x="5218342" y="4464600"/>
            <a:ext cx="1188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model_data.h</a:t>
            </a:r>
            <a:endParaRPr lang="en-US" sz="11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1100" b="1" dirty="0"/>
              <a:t>(cons unit8 t[])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88E734A-C944-0B3B-CCDC-7E63D6E619A0}"/>
              </a:ext>
            </a:extLst>
          </p:cNvPr>
          <p:cNvSpPr/>
          <p:nvPr/>
        </p:nvSpPr>
        <p:spPr>
          <a:xfrm>
            <a:off x="5115677" y="4895487"/>
            <a:ext cx="1420145" cy="371613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0x0F,  0x4A, 0x01…  …</a:t>
            </a:r>
            <a:endParaRPr lang="en-US" sz="1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A9926C1F-9F2E-8D11-5BB2-4428A986AFA6}"/>
              </a:ext>
            </a:extLst>
          </p:cNvPr>
          <p:cNvSpPr/>
          <p:nvPr/>
        </p:nvSpPr>
        <p:spPr>
          <a:xfrm>
            <a:off x="4478274" y="4818838"/>
            <a:ext cx="436912" cy="13711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CE7533B-6A16-B6FD-33C3-1EFF90CC3C34}"/>
              </a:ext>
            </a:extLst>
          </p:cNvPr>
          <p:cNvSpPr txBox="1"/>
          <p:nvPr/>
        </p:nvSpPr>
        <p:spPr>
          <a:xfrm>
            <a:off x="10283658" y="4271457"/>
            <a:ext cx="1598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/ Fail Decisions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HIL performance Criteria</a:t>
            </a:r>
          </a:p>
          <a:p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Revisit Training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/Compression</a:t>
            </a: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/Firmware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2185ECE-9313-8A58-CD58-9EACFF748DD3}"/>
              </a:ext>
            </a:extLst>
          </p:cNvPr>
          <p:cNvCxnSpPr>
            <a:cxnSpLocks/>
          </p:cNvCxnSpPr>
          <p:nvPr/>
        </p:nvCxnSpPr>
        <p:spPr>
          <a:xfrm>
            <a:off x="9619389" y="4464600"/>
            <a:ext cx="0" cy="97719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Picture 134" descr="Check Mark Vector Icon. Check Mark in a Circle Black Symbol Isolated ...">
            <a:extLst>
              <a:ext uri="{FF2B5EF4-FFF2-40B4-BE49-F238E27FC236}">
                <a16:creationId xmlns:a16="http://schemas.microsoft.com/office/drawing/2014/main" id="{8B2725F8-BAE1-D7F2-46DC-B0736183E3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266" t="15345" r="15465" b="14917"/>
          <a:stretch>
            <a:fillRect/>
          </a:stretch>
        </p:blipFill>
        <p:spPr>
          <a:xfrm>
            <a:off x="9958554" y="4703296"/>
            <a:ext cx="258305" cy="267789"/>
          </a:xfrm>
          <a:prstGeom prst="rect">
            <a:avLst/>
          </a:prstGeom>
        </p:spPr>
      </p:pic>
      <p:pic>
        <p:nvPicPr>
          <p:cNvPr id="137" name="Picture 136" descr="The Black Cross Inside Circle Isolated Vector Illustration Stock ...">
            <a:extLst>
              <a:ext uri="{FF2B5EF4-FFF2-40B4-BE49-F238E27FC236}">
                <a16:creationId xmlns:a16="http://schemas.microsoft.com/office/drawing/2014/main" id="{B3D6532F-D781-5F4C-0EC0-1C9171118A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174" t="13057" r="15328" b="18702"/>
          <a:stretch>
            <a:fillRect/>
          </a:stretch>
        </p:blipFill>
        <p:spPr>
          <a:xfrm>
            <a:off x="10018245" y="5234726"/>
            <a:ext cx="241529" cy="243493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98F24A7E-101F-19B8-045C-6A1496A6A828}"/>
              </a:ext>
            </a:extLst>
          </p:cNvPr>
          <p:cNvSpPr txBox="1"/>
          <p:nvPr/>
        </p:nvSpPr>
        <p:spPr>
          <a:xfrm>
            <a:off x="4687919" y="6000128"/>
            <a:ext cx="242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MEASURES (HIL)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8027381-4B68-8F4C-C1CF-BE2C3093570D}"/>
              </a:ext>
            </a:extLst>
          </p:cNvPr>
          <p:cNvSpPr txBox="1"/>
          <p:nvPr/>
        </p:nvSpPr>
        <p:spPr>
          <a:xfrm>
            <a:off x="6009954" y="6228474"/>
            <a:ext cx="3067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stop in firmware and PC       	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ECA956A-F417-BC9B-CE2A-ACAEDFFF919E}"/>
              </a:ext>
            </a:extLst>
          </p:cNvPr>
          <p:cNvSpPr txBox="1"/>
          <p:nvPr/>
        </p:nvSpPr>
        <p:spPr>
          <a:xfrm>
            <a:off x="733967" y="6244842"/>
            <a:ext cx="2954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Watchdog timer on ESP32	</a:t>
            </a:r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69F5358-0A39-4A5D-6FE3-3EB28B57B637}"/>
              </a:ext>
            </a:extLst>
          </p:cNvPr>
          <p:cNvSpPr txBox="1"/>
          <p:nvPr/>
        </p:nvSpPr>
        <p:spPr>
          <a:xfrm>
            <a:off x="3082897" y="6250006"/>
            <a:ext cx="26484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action limits and rate limiting</a:t>
            </a:r>
            <a:endParaRPr lang="en-US" sz="1200" dirty="0"/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5F844C56-3BB4-DF03-9391-C8F56A48EB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206" y="1427377"/>
            <a:ext cx="671164" cy="671164"/>
          </a:xfrm>
          <a:prstGeom prst="rect">
            <a:avLst/>
          </a:prstGeom>
        </p:spPr>
      </p:pic>
      <p:pic>
        <p:nvPicPr>
          <p:cNvPr id="158" name="Picture 157" descr="Espressif Systems ESP32-DEVKITC-32D: Symbol, Footprint, 3D STEP Model ...">
            <a:extLst>
              <a:ext uri="{FF2B5EF4-FFF2-40B4-BE49-F238E27FC236}">
                <a16:creationId xmlns:a16="http://schemas.microsoft.com/office/drawing/2014/main" id="{78A25742-9089-99BC-5473-5A481FCE56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718780" y="1413602"/>
            <a:ext cx="828463" cy="657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DFCA32-BF61-9340-0B81-3B60B8A86A40}"/>
              </a:ext>
            </a:extLst>
          </p:cNvPr>
          <p:cNvSpPr txBox="1"/>
          <p:nvPr/>
        </p:nvSpPr>
        <p:spPr>
          <a:xfrm>
            <a:off x="1960754" y="4137293"/>
            <a:ext cx="279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Conversion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948D2-F2AA-C2FF-FFC0-88ACC431EE64}"/>
              </a:ext>
            </a:extLst>
          </p:cNvPr>
          <p:cNvSpPr txBox="1"/>
          <p:nvPr/>
        </p:nvSpPr>
        <p:spPr>
          <a:xfrm>
            <a:off x="9447433" y="6253536"/>
            <a:ext cx="2554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Gripper Open on error/timeout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8313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245</Words>
  <Application>Microsoft Office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4</cp:revision>
  <dcterms:created xsi:type="dcterms:W3CDTF">2026-07-09T06:11:00Z</dcterms:created>
  <dcterms:modified xsi:type="dcterms:W3CDTF">2026-07-09T10:41:55Z</dcterms:modified>
</cp:coreProperties>
</file>